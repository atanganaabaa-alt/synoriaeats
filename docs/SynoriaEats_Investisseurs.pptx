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 type="widescreen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70" name="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42B"/>
          </a:solidFill>
          <a:ln>
            <a:noFill/>
          </a:ln>
        </p:spPr>
        <p:txBody>
          <a:bodyPr/>
          <a:lstStyle/>
          <a:p/>
        </p:txBody>
      </p:sp>
      <p:sp>
        <p:nvSpPr>
          <p:cNvPr id="365205" name="s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CD530"/>
          </a:solidFill>
          <a:ln>
            <a:noFill/>
          </a:ln>
        </p:spPr>
        <p:txBody>
          <a:bodyPr/>
          <a:lstStyle/>
          <a:p/>
        </p:txBody>
      </p:sp>
      <p:sp>
        <p:nvSpPr>
          <p:cNvPr id="58159" name="t"/>
          <p:cNvSpPr txBox="1"/>
          <p:nvPr/>
        </p:nvSpPr>
        <p:spPr>
          <a:xfrm>
            <a:off x="640080" y="1280160"/>
            <a:ext cx="10058400" cy="3657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400" b="1" dirty="0">
                <a:solidFill>
                  <a:srgbClr val="FCD530"/>
                </a:solidFill>
                <a:latin typeface="Calibri"/>
              </a:rPr>
              <a:t>LIVRAISON DE REPAS  ·  CAMEROUN</a:t>
            </a:r>
          </a:p>
        </p:txBody>
      </p:sp>
      <p:sp>
        <p:nvSpPr>
          <p:cNvPr id="366761" name="t"/>
          <p:cNvSpPr txBox="1"/>
          <p:nvPr/>
        </p:nvSpPr>
        <p:spPr>
          <a:xfrm>
            <a:off x="640080" y="1737360"/>
            <a:ext cx="10972800" cy="10058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5400" b="1" dirty="0">
                <a:solidFill>
                  <a:srgbClr val="FFFDF3"/>
                </a:solidFill>
                <a:latin typeface="Georgia"/>
              </a:rPr>
              <a:t>SynoriaEats</a:t>
            </a:r>
          </a:p>
        </p:txBody>
      </p:sp>
      <p:sp>
        <p:nvSpPr>
          <p:cNvPr id="507627" name="t"/>
          <p:cNvSpPr txBox="1"/>
          <p:nvPr/>
        </p:nvSpPr>
        <p:spPr>
          <a:xfrm>
            <a:off x="640080" y="2926080"/>
            <a:ext cx="10058400" cy="9144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2400" dirty="0">
                <a:solidFill>
                  <a:srgbClr val="FFFFFF"/>
                </a:solidFill>
                <a:latin typeface="Calibri"/>
              </a:rPr>
              <a:t>Commander local. Payer en Mobile Money.</a:t>
            </a:r>
          </a:p>
          <a:p>
            <a:pPr algn="l"/>
            <a:r>
              <a:rPr lang="fr-FR" sz="2400" dirty="0">
                <a:solidFill>
                  <a:srgbClr val="FFFFFF"/>
                </a:solidFill>
                <a:latin typeface="Calibri"/>
              </a:rPr>
              <a:t>Se faire livrer.</a:t>
            </a:r>
          </a:p>
        </p:txBody>
      </p:sp>
      <p:sp>
        <p:nvSpPr>
          <p:cNvPr id="145580" name="t"/>
          <p:cNvSpPr txBox="1"/>
          <p:nvPr/>
        </p:nvSpPr>
        <p:spPr>
          <a:xfrm>
            <a:off x="640080" y="4160520"/>
            <a:ext cx="10058400" cy="7315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600" dirty="0">
                <a:solidFill>
                  <a:srgbClr val="E7E4D6"/>
                </a:solidFill>
                <a:latin typeface="Calibri"/>
              </a:rPr>
              <a:t>Groupe 4  —  ESTLC, Université d'Ebolowa</a:t>
            </a:r>
          </a:p>
          <a:p>
            <a:pPr algn="l"/>
            <a:r>
              <a:rPr lang="fr-FR" sz="1600" dirty="0">
                <a:solidFill>
                  <a:srgbClr val="E7E4D6"/>
                </a:solidFill>
                <a:latin typeface="Calibri"/>
              </a:rPr>
              <a:t>Gabrielle Sara Atangana  ·  Larissa Ndo  ·  Donald Souop  ·  Ericka Abolo</a:t>
            </a:r>
          </a:p>
        </p:txBody>
      </p:sp>
      <p:sp>
        <p:nvSpPr>
          <p:cNvPr id="801007" name="s"/>
          <p:cNvSpPr/>
          <p:nvPr/>
        </p:nvSpPr>
        <p:spPr>
          <a:xfrm>
            <a:off x="640080" y="5257800"/>
            <a:ext cx="2743200" cy="502920"/>
          </a:xfrm>
          <a:prstGeom prst="roundRect">
            <a:avLst/>
          </a:prstGeom>
          <a:solidFill>
            <a:srgbClr val="FCD530"/>
          </a:solidFill>
          <a:ln>
            <a:noFill/>
          </a:ln>
        </p:spPr>
        <p:txBody>
          <a:bodyPr/>
          <a:lstStyle/>
          <a:p/>
        </p:txBody>
      </p:sp>
      <p:sp>
        <p:nvSpPr>
          <p:cNvPr id="96761" name="s"/>
          <p:cNvSpPr/>
          <p:nvPr/>
        </p:nvSpPr>
        <p:spPr>
          <a:xfrm>
            <a:off x="3657600" y="5257800"/>
            <a:ext cx="2743200" cy="502920"/>
          </a:xfrm>
          <a:prstGeom prst="roundRect">
            <a:avLst/>
          </a:prstGeom>
          <a:solidFill>
            <a:srgbClr val="FCD530"/>
          </a:solidFill>
          <a:ln>
            <a:noFill/>
          </a:ln>
        </p:spPr>
        <p:txBody>
          <a:bodyPr/>
          <a:lstStyle/>
          <a:p/>
        </p:txBody>
      </p:sp>
      <p:sp>
        <p:nvSpPr>
          <p:cNvPr id="683038" name="s"/>
          <p:cNvSpPr/>
          <p:nvPr/>
        </p:nvSpPr>
        <p:spPr>
          <a:xfrm>
            <a:off x="6675120" y="5257800"/>
            <a:ext cx="2880360" cy="502920"/>
          </a:xfrm>
          <a:prstGeom prst="roundRect">
            <a:avLst/>
          </a:prstGeom>
          <a:solidFill>
            <a:srgbClr val="FCD530"/>
          </a:solidFill>
          <a:ln>
            <a:noFill/>
          </a:ln>
        </p:spPr>
        <p:txBody>
          <a:bodyPr/>
          <a:lstStyle/>
          <a:p/>
        </p:txBody>
      </p:sp>
      <p:sp>
        <p:nvSpPr>
          <p:cNvPr id="437298" name="t"/>
          <p:cNvSpPr txBox="1"/>
          <p:nvPr/>
        </p:nvSpPr>
        <p:spPr>
          <a:xfrm>
            <a:off x="640080" y="5358384"/>
            <a:ext cx="2743200" cy="3200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fr-FR" sz="1300" b="1" dirty="0">
                <a:solidFill>
                  <a:srgbClr val="1D242B"/>
                </a:solidFill>
                <a:latin typeface="Calibri"/>
              </a:rPr>
              <a:t>RESTOS LOCAUX</a:t>
            </a:r>
          </a:p>
        </p:txBody>
      </p:sp>
      <p:sp>
        <p:nvSpPr>
          <p:cNvPr id="862709" name="t"/>
          <p:cNvSpPr txBox="1"/>
          <p:nvPr/>
        </p:nvSpPr>
        <p:spPr>
          <a:xfrm>
            <a:off x="3657600" y="5358384"/>
            <a:ext cx="2743200" cy="3200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fr-FR" sz="1300" b="1" dirty="0">
                <a:solidFill>
                  <a:srgbClr val="1D242B"/>
                </a:solidFill>
                <a:latin typeface="Calibri"/>
              </a:rPr>
              <a:t>MOBILE MONEY</a:t>
            </a:r>
          </a:p>
        </p:txBody>
      </p:sp>
      <p:sp>
        <p:nvSpPr>
          <p:cNvPr id="285028" name="t"/>
          <p:cNvSpPr txBox="1"/>
          <p:nvPr/>
        </p:nvSpPr>
        <p:spPr>
          <a:xfrm>
            <a:off x="6675120" y="5358384"/>
            <a:ext cx="2880360" cy="3200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fr-FR" sz="1300" b="1" dirty="0">
                <a:solidFill>
                  <a:srgbClr val="1D242B"/>
                </a:solidFill>
                <a:latin typeface="Calibri"/>
              </a:rPr>
              <a:t>CONSEILLÈRE SARA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929" name="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3"/>
          </a:solidFill>
          <a:ln>
            <a:noFill/>
          </a:ln>
        </p:spPr>
        <p:txBody>
          <a:bodyPr/>
          <a:lstStyle/>
          <a:p/>
        </p:txBody>
      </p:sp>
      <p:sp>
        <p:nvSpPr>
          <p:cNvPr id="899186" name="s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CD530"/>
          </a:solidFill>
          <a:ln>
            <a:noFill/>
          </a:ln>
        </p:spPr>
        <p:txBody>
          <a:bodyPr/>
          <a:lstStyle/>
          <a:p/>
        </p:txBody>
      </p:sp>
      <p:sp>
        <p:nvSpPr>
          <p:cNvPr id="604523" name="t"/>
          <p:cNvSpPr txBox="1"/>
          <p:nvPr/>
        </p:nvSpPr>
        <p:spPr>
          <a:xfrm>
            <a:off x="438912" y="256032"/>
            <a:ext cx="11155680" cy="6400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3200" b="1" dirty="0">
                <a:solidFill>
                  <a:srgbClr val="1D242B"/>
                </a:solidFill>
                <a:latin typeface="Georgia"/>
              </a:rPr>
              <a:t>Plan</a:t>
            </a:r>
          </a:p>
        </p:txBody>
      </p:sp>
      <p:sp>
        <p:nvSpPr>
          <p:cNvPr id="455402" name="s"/>
          <p:cNvSpPr/>
          <p:nvPr/>
        </p:nvSpPr>
        <p:spPr>
          <a:xfrm>
            <a:off x="438912" y="1234440"/>
            <a:ext cx="553212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13902" name="t"/>
          <p:cNvSpPr txBox="1"/>
          <p:nvPr/>
        </p:nvSpPr>
        <p:spPr>
          <a:xfrm>
            <a:off x="713232" y="1463040"/>
            <a:ext cx="1828800" cy="4114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2200" b="1" dirty="0">
                <a:solidFill>
                  <a:srgbClr val="63A03A"/>
                </a:solidFill>
                <a:latin typeface="Georgia"/>
              </a:rPr>
              <a:t>01</a:t>
            </a:r>
          </a:p>
        </p:txBody>
      </p:sp>
      <p:sp>
        <p:nvSpPr>
          <p:cNvPr id="703597" name="t"/>
          <p:cNvSpPr txBox="1"/>
          <p:nvPr/>
        </p:nvSpPr>
        <p:spPr>
          <a:xfrm>
            <a:off x="713232" y="1965960"/>
            <a:ext cx="4937760" cy="4572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2200" b="1" dirty="0">
                <a:solidFill>
                  <a:srgbClr val="1D242B"/>
                </a:solidFill>
                <a:latin typeface="Georgia"/>
              </a:rPr>
              <a:t>Le marché</a:t>
            </a:r>
          </a:p>
        </p:txBody>
      </p:sp>
      <p:sp>
        <p:nvSpPr>
          <p:cNvPr id="456950" name="t"/>
          <p:cNvSpPr txBox="1"/>
          <p:nvPr/>
        </p:nvSpPr>
        <p:spPr>
          <a:xfrm>
            <a:off x="713232" y="2514600"/>
            <a:ext cx="4937760" cy="6400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500" dirty="0">
                <a:solidFill>
                  <a:srgbClr val="5C656D"/>
                </a:solidFill>
                <a:latin typeface="Calibri"/>
              </a:rPr>
              <a:t>WhatsApp, Mobile Money, et le vide laissé par les grandes plateformes.</a:t>
            </a:r>
          </a:p>
        </p:txBody>
      </p:sp>
      <p:sp>
        <p:nvSpPr>
          <p:cNvPr id="218660" name="s"/>
          <p:cNvSpPr/>
          <p:nvPr/>
        </p:nvSpPr>
        <p:spPr>
          <a:xfrm>
            <a:off x="6291072" y="1234440"/>
            <a:ext cx="553212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49348" name="t"/>
          <p:cNvSpPr txBox="1"/>
          <p:nvPr/>
        </p:nvSpPr>
        <p:spPr>
          <a:xfrm>
            <a:off x="6565392" y="1463040"/>
            <a:ext cx="1828800" cy="4114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2200" b="1" dirty="0">
                <a:solidFill>
                  <a:srgbClr val="63A03A"/>
                </a:solidFill>
                <a:latin typeface="Georgia"/>
              </a:rPr>
              <a:t>02</a:t>
            </a:r>
          </a:p>
        </p:txBody>
      </p:sp>
      <p:sp>
        <p:nvSpPr>
          <p:cNvPr id="859630" name="t"/>
          <p:cNvSpPr txBox="1"/>
          <p:nvPr/>
        </p:nvSpPr>
        <p:spPr>
          <a:xfrm>
            <a:off x="6565392" y="1965960"/>
            <a:ext cx="4937760" cy="4572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2200" b="1" dirty="0">
                <a:solidFill>
                  <a:srgbClr val="1D242B"/>
                </a:solidFill>
                <a:latin typeface="Georgia"/>
              </a:rPr>
              <a:t>Le produit</a:t>
            </a:r>
          </a:p>
        </p:txBody>
      </p:sp>
      <p:sp>
        <p:nvSpPr>
          <p:cNvPr id="858935" name="t"/>
          <p:cNvSpPr txBox="1"/>
          <p:nvPr/>
        </p:nvSpPr>
        <p:spPr>
          <a:xfrm>
            <a:off x="6565392" y="2514600"/>
            <a:ext cx="4937760" cy="6400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500" dirty="0">
                <a:solidFill>
                  <a:srgbClr val="5C656D"/>
                </a:solidFill>
                <a:latin typeface="Calibri"/>
              </a:rPr>
              <a:t>Client, restaurant, livreur. Sara, distance, validation.</a:t>
            </a:r>
          </a:p>
        </p:txBody>
      </p:sp>
      <p:sp>
        <p:nvSpPr>
          <p:cNvPr id="664264" name="s"/>
          <p:cNvSpPr/>
          <p:nvPr/>
        </p:nvSpPr>
        <p:spPr>
          <a:xfrm>
            <a:off x="438912" y="3611880"/>
            <a:ext cx="553212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04422" name="t"/>
          <p:cNvSpPr txBox="1"/>
          <p:nvPr/>
        </p:nvSpPr>
        <p:spPr>
          <a:xfrm>
            <a:off x="713232" y="3840480"/>
            <a:ext cx="1828800" cy="4114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2200" b="1" dirty="0">
                <a:solidFill>
                  <a:srgbClr val="63A03A"/>
                </a:solidFill>
                <a:latin typeface="Georgia"/>
              </a:rPr>
              <a:t>03</a:t>
            </a:r>
          </a:p>
        </p:txBody>
      </p:sp>
      <p:sp>
        <p:nvSpPr>
          <p:cNvPr id="534979" name="t"/>
          <p:cNvSpPr txBox="1"/>
          <p:nvPr/>
        </p:nvSpPr>
        <p:spPr>
          <a:xfrm>
            <a:off x="713232" y="4343400"/>
            <a:ext cx="4937760" cy="4572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2200" b="1" dirty="0">
                <a:solidFill>
                  <a:srgbClr val="1D242B"/>
                </a:solidFill>
                <a:latin typeface="Georgia"/>
              </a:rPr>
              <a:t>L'argent</a:t>
            </a:r>
          </a:p>
        </p:txBody>
      </p:sp>
      <p:sp>
        <p:nvSpPr>
          <p:cNvPr id="598518" name="t"/>
          <p:cNvSpPr txBox="1"/>
          <p:nvPr/>
        </p:nvSpPr>
        <p:spPr>
          <a:xfrm>
            <a:off x="713232" y="4892040"/>
            <a:ext cx="4937760" cy="6400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500" dirty="0">
                <a:solidFill>
                  <a:srgbClr val="5C656D"/>
                </a:solidFill>
                <a:latin typeface="Calibri"/>
              </a:rPr>
              <a:t>Où va le paiement, commission, abonnements mensuels.</a:t>
            </a:r>
          </a:p>
        </p:txBody>
      </p:sp>
      <p:sp>
        <p:nvSpPr>
          <p:cNvPr id="590847" name="s"/>
          <p:cNvSpPr/>
          <p:nvPr/>
        </p:nvSpPr>
        <p:spPr>
          <a:xfrm>
            <a:off x="6291072" y="3611880"/>
            <a:ext cx="553212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19182" name="t"/>
          <p:cNvSpPr txBox="1"/>
          <p:nvPr/>
        </p:nvSpPr>
        <p:spPr>
          <a:xfrm>
            <a:off x="6565392" y="3840480"/>
            <a:ext cx="1828800" cy="4114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2200" b="1" dirty="0">
                <a:solidFill>
                  <a:srgbClr val="63A03A"/>
                </a:solidFill>
                <a:latin typeface="Georgia"/>
              </a:rPr>
              <a:t>04</a:t>
            </a:r>
          </a:p>
        </p:txBody>
      </p:sp>
      <p:sp>
        <p:nvSpPr>
          <p:cNvPr id="289011" name="t"/>
          <p:cNvSpPr txBox="1"/>
          <p:nvPr/>
        </p:nvSpPr>
        <p:spPr>
          <a:xfrm>
            <a:off x="6565392" y="4343400"/>
            <a:ext cx="4937760" cy="4572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2200" b="1" dirty="0">
                <a:solidFill>
                  <a:srgbClr val="1D242B"/>
                </a:solidFill>
                <a:latin typeface="Georgia"/>
              </a:rPr>
              <a:t>La place</a:t>
            </a:r>
          </a:p>
        </p:txBody>
      </p:sp>
      <p:sp>
        <p:nvSpPr>
          <p:cNvPr id="616400" name="t"/>
          <p:cNvSpPr txBox="1"/>
          <p:nvPr/>
        </p:nvSpPr>
        <p:spPr>
          <a:xfrm>
            <a:off x="6565392" y="4892040"/>
            <a:ext cx="4937760" cy="6400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500" dirty="0">
                <a:solidFill>
                  <a:srgbClr val="5C656D"/>
                </a:solidFill>
                <a:latin typeface="Calibri"/>
              </a:rPr>
              <a:t>Ce que SynoriaEats fait déjà, et ce qui reste à brancher.</a:t>
            </a:r>
          </a:p>
        </p:txBody>
      </p:sp>
      <p:sp>
        <p:nvSpPr>
          <p:cNvPr id="31794" name="t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200" dirty="0">
                <a:solidFill>
                  <a:srgbClr val="5C656D"/>
                </a:solidFill>
                <a:latin typeface="Calibri"/>
              </a:rPr>
              <a:t>SynoriaEats  ·  Groupe 4 — ESTLC, Université d'Ebolowa</a:t>
            </a:r>
          </a:p>
        </p:txBody>
      </p:sp>
      <p:sp>
        <p:nvSpPr>
          <p:cNvPr id="116879" name="t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/>
            <a:r>
              <a:rPr lang="fr-FR" sz="1200" dirty="0">
                <a:solidFill>
                  <a:srgbClr val="5C656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929" name="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3"/>
          </a:solidFill>
          <a:ln>
            <a:noFill/>
          </a:ln>
        </p:spPr>
        <p:txBody>
          <a:bodyPr/>
          <a:lstStyle/>
          <a:p/>
        </p:txBody>
      </p:sp>
      <p:sp>
        <p:nvSpPr>
          <p:cNvPr id="899186" name="s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CD530"/>
          </a:solidFill>
          <a:ln>
            <a:noFill/>
          </a:ln>
        </p:spPr>
        <p:txBody>
          <a:bodyPr/>
          <a:lstStyle/>
          <a:p/>
        </p:txBody>
      </p:sp>
      <p:sp>
        <p:nvSpPr>
          <p:cNvPr id="493151" name="t"/>
          <p:cNvSpPr txBox="1"/>
          <p:nvPr/>
        </p:nvSpPr>
        <p:spPr>
          <a:xfrm>
            <a:off x="438912" y="256032"/>
            <a:ext cx="11155680" cy="6400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3200" b="1" dirty="0">
                <a:solidFill>
                  <a:srgbClr val="1D242B"/>
                </a:solidFill>
                <a:latin typeface="Georgia"/>
              </a:rPr>
              <a:t>Commander à manger, ici</a:t>
            </a:r>
          </a:p>
        </p:txBody>
      </p:sp>
      <p:sp>
        <p:nvSpPr>
          <p:cNvPr id="813550" name="t"/>
          <p:cNvSpPr txBox="1"/>
          <p:nvPr/>
        </p:nvSpPr>
        <p:spPr>
          <a:xfrm>
            <a:off x="438912" y="1051560"/>
            <a:ext cx="11155680" cy="6400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800" dirty="0">
                <a:solidFill>
                  <a:srgbClr val="1D242B"/>
                </a:solidFill>
                <a:latin typeface="Calibri"/>
              </a:rPr>
              <a:t>La commande passe encore trop souvent par WhatsApp et un Mobile Money envoyé au restaurant.</a:t>
            </a:r>
          </a:p>
        </p:txBody>
      </p:sp>
      <p:sp>
        <p:nvSpPr>
          <p:cNvPr id="256414" name="s"/>
          <p:cNvSpPr/>
          <p:nvPr/>
        </p:nvSpPr>
        <p:spPr>
          <a:xfrm>
            <a:off x="438912" y="1965960"/>
            <a:ext cx="3611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05182" name="s"/>
          <p:cNvSpPr/>
          <p:nvPr/>
        </p:nvSpPr>
        <p:spPr>
          <a:xfrm>
            <a:off x="438912" y="1965960"/>
            <a:ext cx="3611880" cy="91440"/>
          </a:xfrm>
          <a:prstGeom prst="rect">
            <a:avLst/>
          </a:prstGeom>
          <a:solidFill>
            <a:srgbClr val="FCD530"/>
          </a:solidFill>
          <a:ln>
            <a:noFill/>
          </a:ln>
        </p:spPr>
        <p:txBody>
          <a:bodyPr/>
          <a:lstStyle/>
          <a:p/>
        </p:txBody>
      </p:sp>
      <p:sp>
        <p:nvSpPr>
          <p:cNvPr id="653810" name="t"/>
          <p:cNvSpPr txBox="1"/>
          <p:nvPr/>
        </p:nvSpPr>
        <p:spPr>
          <a:xfrm>
            <a:off x="667512" y="2286000"/>
            <a:ext cx="3154680" cy="10972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2200" b="1" dirty="0">
                <a:solidFill>
                  <a:srgbClr val="1D242B"/>
                </a:solidFill>
                <a:latin typeface="Georgia"/>
              </a:rPr>
              <a:t>WhatsApp</a:t>
            </a:r>
          </a:p>
        </p:txBody>
      </p:sp>
      <p:sp>
        <p:nvSpPr>
          <p:cNvPr id="719806" name="t"/>
          <p:cNvSpPr txBox="1"/>
          <p:nvPr/>
        </p:nvSpPr>
        <p:spPr>
          <a:xfrm>
            <a:off x="667512" y="3520440"/>
            <a:ext cx="3154680" cy="20116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600" dirty="0">
                <a:solidFill>
                  <a:srgbClr val="5C656D"/>
                </a:solidFill>
                <a:latin typeface="Calibri"/>
              </a:rPr>
              <a:t>Pas de menu fiable, pas de suivi. Le prix de la course se négocie à chaque fois.</a:t>
            </a:r>
          </a:p>
        </p:txBody>
      </p:sp>
      <p:sp>
        <p:nvSpPr>
          <p:cNvPr id="264899" name="s"/>
          <p:cNvSpPr/>
          <p:nvPr/>
        </p:nvSpPr>
        <p:spPr>
          <a:xfrm>
            <a:off x="4279392" y="1965960"/>
            <a:ext cx="3611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9490" name="s"/>
          <p:cNvSpPr/>
          <p:nvPr/>
        </p:nvSpPr>
        <p:spPr>
          <a:xfrm>
            <a:off x="4279392" y="1965960"/>
            <a:ext cx="3611880" cy="91440"/>
          </a:xfrm>
          <a:prstGeom prst="rect">
            <a:avLst/>
          </a:prstGeom>
          <a:solidFill>
            <a:srgbClr val="FCD530"/>
          </a:solidFill>
          <a:ln>
            <a:noFill/>
          </a:ln>
        </p:spPr>
        <p:txBody>
          <a:bodyPr/>
          <a:lstStyle/>
          <a:p/>
        </p:txBody>
      </p:sp>
      <p:sp>
        <p:nvSpPr>
          <p:cNvPr id="429803" name="t"/>
          <p:cNvSpPr txBox="1"/>
          <p:nvPr/>
        </p:nvSpPr>
        <p:spPr>
          <a:xfrm>
            <a:off x="4507992" y="2286000"/>
            <a:ext cx="3154680" cy="10972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2200" b="1" dirty="0">
                <a:solidFill>
                  <a:srgbClr val="1D242B"/>
                </a:solidFill>
                <a:latin typeface="Georgia"/>
              </a:rPr>
              <a:t>Le paiement du quotidien</a:t>
            </a:r>
          </a:p>
        </p:txBody>
      </p:sp>
      <p:sp>
        <p:nvSpPr>
          <p:cNvPr id="177867" name="t"/>
          <p:cNvSpPr txBox="1"/>
          <p:nvPr/>
        </p:nvSpPr>
        <p:spPr>
          <a:xfrm>
            <a:off x="4507992" y="3520440"/>
            <a:ext cx="3154680" cy="20116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600" dirty="0">
                <a:solidFill>
                  <a:srgbClr val="5C656D"/>
                </a:solidFill>
                <a:latin typeface="Calibri"/>
              </a:rPr>
              <a:t>Orange Money et MTN MoMo. La carte bancaire n'est pas le réflexe.</a:t>
            </a:r>
          </a:p>
        </p:txBody>
      </p:sp>
      <p:sp>
        <p:nvSpPr>
          <p:cNvPr id="40081" name="s"/>
          <p:cNvSpPr/>
          <p:nvPr/>
        </p:nvSpPr>
        <p:spPr>
          <a:xfrm>
            <a:off x="8119872" y="1965960"/>
            <a:ext cx="3611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9675" name="s"/>
          <p:cNvSpPr/>
          <p:nvPr/>
        </p:nvSpPr>
        <p:spPr>
          <a:xfrm>
            <a:off x="8119872" y="1965960"/>
            <a:ext cx="3611880" cy="91440"/>
          </a:xfrm>
          <a:prstGeom prst="rect">
            <a:avLst/>
          </a:prstGeom>
          <a:solidFill>
            <a:srgbClr val="FCD530"/>
          </a:solidFill>
          <a:ln>
            <a:noFill/>
          </a:ln>
        </p:spPr>
        <p:txBody>
          <a:bodyPr/>
          <a:lstStyle/>
          <a:p/>
        </p:txBody>
      </p:sp>
      <p:sp>
        <p:nvSpPr>
          <p:cNvPr id="511196" name="t"/>
          <p:cNvSpPr txBox="1"/>
          <p:nvPr/>
        </p:nvSpPr>
        <p:spPr>
          <a:xfrm>
            <a:off x="8348472" y="2286000"/>
            <a:ext cx="3154680" cy="10972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2200" b="1" dirty="0">
                <a:solidFill>
                  <a:srgbClr val="1D242B"/>
                </a:solidFill>
                <a:latin typeface="Georgia"/>
              </a:rPr>
              <a:t>Le vide des grandes applis</a:t>
            </a:r>
          </a:p>
        </p:txBody>
      </p:sp>
      <p:sp>
        <p:nvSpPr>
          <p:cNvPr id="200159" name="t"/>
          <p:cNvSpPr txBox="1"/>
          <p:nvPr/>
        </p:nvSpPr>
        <p:spPr>
          <a:xfrm>
            <a:off x="8348472" y="3520440"/>
            <a:ext cx="3154680" cy="20116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600" dirty="0">
                <a:solidFill>
                  <a:srgbClr val="5C656D"/>
                </a:solidFill>
                <a:latin typeface="Calibri"/>
              </a:rPr>
              <a:t>Jumia Food a quitté l'Afrique. Le marché se joue entre services locaux et le téléphone du restaurateur.</a:t>
            </a:r>
          </a:p>
        </p:txBody>
      </p:sp>
      <p:sp>
        <p:nvSpPr>
          <p:cNvPr id="31794" name="t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200" dirty="0">
                <a:solidFill>
                  <a:srgbClr val="5C656D"/>
                </a:solidFill>
                <a:latin typeface="Calibri"/>
              </a:rPr>
              <a:t>SynoriaEats  ·  Groupe 4 — ESTLC, Université d'Ebolowa</a:t>
            </a:r>
          </a:p>
        </p:txBody>
      </p:sp>
      <p:sp>
        <p:nvSpPr>
          <p:cNvPr id="25297" name="t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/>
            <a:r>
              <a:rPr lang="fr-FR" sz="1200" dirty="0">
                <a:solidFill>
                  <a:srgbClr val="5C656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929" name="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3"/>
          </a:solidFill>
          <a:ln>
            <a:noFill/>
          </a:ln>
        </p:spPr>
        <p:txBody>
          <a:bodyPr/>
          <a:lstStyle/>
          <a:p/>
        </p:txBody>
      </p:sp>
      <p:sp>
        <p:nvSpPr>
          <p:cNvPr id="899186" name="s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CD5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062" name="t"/>
          <p:cNvSpPr txBox="1"/>
          <p:nvPr/>
        </p:nvSpPr>
        <p:spPr>
          <a:xfrm>
            <a:off x="438912" y="256032"/>
            <a:ext cx="11155680" cy="6400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3200" b="1" dirty="0">
                <a:solidFill>
                  <a:srgbClr val="1D242B"/>
                </a:solidFill>
                <a:latin typeface="Georgia"/>
              </a:rPr>
              <a:t>Trois personnes, un circuit</a:t>
            </a:r>
          </a:p>
        </p:txBody>
      </p:sp>
      <p:sp>
        <p:nvSpPr>
          <p:cNvPr id="121989" name="s"/>
          <p:cNvSpPr/>
          <p:nvPr/>
        </p:nvSpPr>
        <p:spPr>
          <a:xfrm>
            <a:off x="438912" y="1325880"/>
            <a:ext cx="3611880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25151" name="s"/>
          <p:cNvSpPr/>
          <p:nvPr/>
        </p:nvSpPr>
        <p:spPr>
          <a:xfrm>
            <a:off x="694944" y="1645920"/>
            <a:ext cx="1051560" cy="384048"/>
          </a:xfrm>
          <a:prstGeom prst="roundRect">
            <a:avLst/>
          </a:prstGeom>
          <a:solidFill>
            <a:srgbClr val="FCD5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111" name="t"/>
          <p:cNvSpPr txBox="1"/>
          <p:nvPr/>
        </p:nvSpPr>
        <p:spPr>
          <a:xfrm>
            <a:off x="694944" y="1700784"/>
            <a:ext cx="1051560" cy="29260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fr-FR" sz="1400" b="1" dirty="0">
                <a:solidFill>
                  <a:srgbClr val="1D242B"/>
                </a:solidFill>
                <a:latin typeface="Calibri"/>
              </a:rPr>
              <a:t>01</a:t>
            </a:r>
          </a:p>
        </p:txBody>
      </p:sp>
      <p:sp>
        <p:nvSpPr>
          <p:cNvPr id="339785" name="t"/>
          <p:cNvSpPr txBox="1"/>
          <p:nvPr/>
        </p:nvSpPr>
        <p:spPr>
          <a:xfrm>
            <a:off x="694944" y="2286000"/>
            <a:ext cx="3108960" cy="6400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2600" b="1" dirty="0">
                <a:solidFill>
                  <a:srgbClr val="1D242B"/>
                </a:solidFill>
                <a:latin typeface="Georgia"/>
              </a:rPr>
              <a:t>Client</a:t>
            </a:r>
          </a:p>
        </p:txBody>
      </p:sp>
      <p:sp>
        <p:nvSpPr>
          <p:cNvPr id="366827" name="t"/>
          <p:cNvSpPr txBox="1"/>
          <p:nvPr/>
        </p:nvSpPr>
        <p:spPr>
          <a:xfrm>
            <a:off x="694944" y="3108960"/>
            <a:ext cx="3108960" cy="2286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600" dirty="0">
                <a:solidFill>
                  <a:srgbClr val="5C656D"/>
                </a:solidFill>
                <a:latin typeface="Calibri"/>
              </a:rPr>
              <a:t>Il choisit un restaurant approuvé, ou demande à Sara un plat selon le quartier, le budget et l'envie.</a:t>
            </a:r>
          </a:p>
        </p:txBody>
      </p:sp>
      <p:sp>
        <p:nvSpPr>
          <p:cNvPr id="366297" name="s"/>
          <p:cNvSpPr/>
          <p:nvPr/>
        </p:nvSpPr>
        <p:spPr>
          <a:xfrm>
            <a:off x="4279392" y="1325880"/>
            <a:ext cx="3611880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02211" name="s"/>
          <p:cNvSpPr/>
          <p:nvPr/>
        </p:nvSpPr>
        <p:spPr>
          <a:xfrm>
            <a:off x="4535424" y="1645920"/>
            <a:ext cx="1051560" cy="384048"/>
          </a:xfrm>
          <a:prstGeom prst="roundRect">
            <a:avLst/>
          </a:prstGeom>
          <a:solidFill>
            <a:srgbClr val="FCD530"/>
          </a:solidFill>
          <a:ln>
            <a:noFill/>
          </a:ln>
        </p:spPr>
        <p:txBody>
          <a:bodyPr/>
          <a:lstStyle/>
          <a:p/>
        </p:txBody>
      </p:sp>
      <p:sp>
        <p:nvSpPr>
          <p:cNvPr id="795871" name="t"/>
          <p:cNvSpPr txBox="1"/>
          <p:nvPr/>
        </p:nvSpPr>
        <p:spPr>
          <a:xfrm>
            <a:off x="4535424" y="1700784"/>
            <a:ext cx="1051560" cy="29260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fr-FR" sz="1400" b="1" dirty="0">
                <a:solidFill>
                  <a:srgbClr val="1D242B"/>
                </a:solidFill>
                <a:latin typeface="Calibri"/>
              </a:rPr>
              <a:t>02</a:t>
            </a:r>
          </a:p>
        </p:txBody>
      </p:sp>
      <p:sp>
        <p:nvSpPr>
          <p:cNvPr id="885980" name="t"/>
          <p:cNvSpPr txBox="1"/>
          <p:nvPr/>
        </p:nvSpPr>
        <p:spPr>
          <a:xfrm>
            <a:off x="4535424" y="2286000"/>
            <a:ext cx="3108960" cy="6400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2600" b="1" dirty="0">
                <a:solidFill>
                  <a:srgbClr val="1D242B"/>
                </a:solidFill>
                <a:latin typeface="Georgia"/>
              </a:rPr>
              <a:t>Restaurant</a:t>
            </a:r>
          </a:p>
        </p:txBody>
      </p:sp>
      <p:sp>
        <p:nvSpPr>
          <p:cNvPr id="136838" name="t"/>
          <p:cNvSpPr txBox="1"/>
          <p:nvPr/>
        </p:nvSpPr>
        <p:spPr>
          <a:xfrm>
            <a:off x="4535424" y="3108960"/>
            <a:ext cx="3108960" cy="2286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600" dirty="0">
                <a:solidFill>
                  <a:srgbClr val="5C656D"/>
                </a:solidFill>
                <a:latin typeface="Calibri"/>
              </a:rPr>
              <a:t>Il dépose son menu après validation. Trente jours d'essai, puis un abonnement pour rester visible.</a:t>
            </a:r>
          </a:p>
        </p:txBody>
      </p:sp>
      <p:sp>
        <p:nvSpPr>
          <p:cNvPr id="610865" name="s"/>
          <p:cNvSpPr/>
          <p:nvPr/>
        </p:nvSpPr>
        <p:spPr>
          <a:xfrm>
            <a:off x="8119872" y="1325880"/>
            <a:ext cx="3611880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80845" name="s"/>
          <p:cNvSpPr/>
          <p:nvPr/>
        </p:nvSpPr>
        <p:spPr>
          <a:xfrm>
            <a:off x="8375904" y="1645920"/>
            <a:ext cx="1051560" cy="384048"/>
          </a:xfrm>
          <a:prstGeom prst="roundRect">
            <a:avLst/>
          </a:prstGeom>
          <a:solidFill>
            <a:srgbClr val="FCD5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25507" name="t"/>
          <p:cNvSpPr txBox="1"/>
          <p:nvPr/>
        </p:nvSpPr>
        <p:spPr>
          <a:xfrm>
            <a:off x="8375904" y="1700784"/>
            <a:ext cx="1051560" cy="29260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fr-FR" sz="1400" b="1" dirty="0">
                <a:solidFill>
                  <a:srgbClr val="1D242B"/>
                </a:solidFill>
                <a:latin typeface="Calibri"/>
              </a:rPr>
              <a:t>03</a:t>
            </a:r>
          </a:p>
        </p:txBody>
      </p:sp>
      <p:sp>
        <p:nvSpPr>
          <p:cNvPr id="469034" name="t"/>
          <p:cNvSpPr txBox="1"/>
          <p:nvPr/>
        </p:nvSpPr>
        <p:spPr>
          <a:xfrm>
            <a:off x="8375904" y="2286000"/>
            <a:ext cx="3108960" cy="6400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2600" b="1" dirty="0">
                <a:solidFill>
                  <a:srgbClr val="1D242B"/>
                </a:solidFill>
                <a:latin typeface="Georgia"/>
              </a:rPr>
              <a:t>Livreur</a:t>
            </a:r>
          </a:p>
        </p:txBody>
      </p:sp>
      <p:sp>
        <p:nvSpPr>
          <p:cNvPr id="288288" name="t"/>
          <p:cNvSpPr txBox="1"/>
          <p:nvPr/>
        </p:nvSpPr>
        <p:spPr>
          <a:xfrm>
            <a:off x="8375904" y="3108960"/>
            <a:ext cx="3108960" cy="2286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600" dirty="0">
                <a:solidFill>
                  <a:srgbClr val="5C656D"/>
                </a:solidFill>
                <a:latin typeface="Calibri"/>
              </a:rPr>
              <a:t>Il prend la mission quand le plat est prêt. Le client suit la course.</a:t>
            </a:r>
          </a:p>
        </p:txBody>
      </p:sp>
      <p:sp>
        <p:nvSpPr>
          <p:cNvPr id="31794" name="t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200" dirty="0">
                <a:solidFill>
                  <a:srgbClr val="5C656D"/>
                </a:solidFill>
                <a:latin typeface="Calibri"/>
              </a:rPr>
              <a:t>SynoriaEats  ·  Groupe 4 — ESTLC, Université d'Ebolowa</a:t>
            </a:r>
          </a:p>
        </p:txBody>
      </p:sp>
      <p:sp>
        <p:nvSpPr>
          <p:cNvPr id="768093" name="t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/>
            <a:r>
              <a:rPr lang="fr-FR" sz="1200" dirty="0">
                <a:solidFill>
                  <a:srgbClr val="5C656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929" name="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3"/>
          </a:solidFill>
          <a:ln>
            <a:noFill/>
          </a:ln>
        </p:spPr>
        <p:txBody>
          <a:bodyPr/>
          <a:lstStyle/>
          <a:p/>
        </p:txBody>
      </p:sp>
      <p:sp>
        <p:nvSpPr>
          <p:cNvPr id="899186" name="s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CD5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15" name="t"/>
          <p:cNvSpPr txBox="1"/>
          <p:nvPr/>
        </p:nvSpPr>
        <p:spPr>
          <a:xfrm>
            <a:off x="438912" y="256032"/>
            <a:ext cx="11155680" cy="6400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3200" b="1" dirty="0">
                <a:solidFill>
                  <a:srgbClr val="1D242B"/>
                </a:solidFill>
                <a:latin typeface="Georgia"/>
              </a:rPr>
              <a:t>Déjà dans l'application</a:t>
            </a:r>
          </a:p>
        </p:txBody>
      </p:sp>
      <p:sp>
        <p:nvSpPr>
          <p:cNvPr id="597714" name="s"/>
          <p:cNvSpPr/>
          <p:nvPr/>
        </p:nvSpPr>
        <p:spPr>
          <a:xfrm>
            <a:off x="411480" y="1143000"/>
            <a:ext cx="1133856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27433" name="t"/>
          <p:cNvSpPr txBox="1"/>
          <p:nvPr/>
        </p:nvSpPr>
        <p:spPr>
          <a:xfrm>
            <a:off x="685800" y="1298448"/>
            <a:ext cx="2377440" cy="5486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600" b="1" dirty="0">
                <a:solidFill>
                  <a:srgbClr val="63A03A"/>
                </a:solidFill>
                <a:latin typeface="Calibri"/>
              </a:rPr>
              <a:t>Paiement</a:t>
            </a:r>
          </a:p>
        </p:txBody>
      </p:sp>
      <p:sp>
        <p:nvSpPr>
          <p:cNvPr id="835254" name="t"/>
          <p:cNvSpPr txBox="1"/>
          <p:nvPr/>
        </p:nvSpPr>
        <p:spPr>
          <a:xfrm>
            <a:off x="3063240" y="1298448"/>
            <a:ext cx="8321040" cy="6400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600" dirty="0">
                <a:solidFill>
                  <a:srgbClr val="1D242B"/>
                </a:solidFill>
                <a:latin typeface="Calibri"/>
              </a:rPr>
              <a:t>Orange Money et MTN MoMo via NotchPay, sur le compte marchand SynoriaEats.</a:t>
            </a:r>
          </a:p>
        </p:txBody>
      </p:sp>
      <p:sp>
        <p:nvSpPr>
          <p:cNvPr id="812076" name="t"/>
          <p:cNvSpPr txBox="1"/>
          <p:nvPr/>
        </p:nvSpPr>
        <p:spPr>
          <a:xfrm>
            <a:off x="685800" y="2084831"/>
            <a:ext cx="2377440" cy="5486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600" b="1" dirty="0">
                <a:solidFill>
                  <a:srgbClr val="63A03A"/>
                </a:solidFill>
                <a:latin typeface="Calibri"/>
              </a:rPr>
              <a:t>Livraison</a:t>
            </a:r>
          </a:p>
        </p:txBody>
      </p:sp>
      <p:sp>
        <p:nvSpPr>
          <p:cNvPr id="452064" name="t"/>
          <p:cNvSpPr txBox="1"/>
          <p:nvPr/>
        </p:nvSpPr>
        <p:spPr>
          <a:xfrm>
            <a:off x="3063240" y="2084831"/>
            <a:ext cx="8321040" cy="6400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600" dirty="0">
                <a:solidFill>
                  <a:srgbClr val="1D242B"/>
                </a:solidFill>
                <a:latin typeface="Calibri"/>
              </a:rPr>
              <a:t>Distance, quartier, nuit, heure de pointe, taille du panier. Entre 500 et 5 000 FCFA.</a:t>
            </a:r>
          </a:p>
        </p:txBody>
      </p:sp>
      <p:sp>
        <p:nvSpPr>
          <p:cNvPr id="405682" name="t"/>
          <p:cNvSpPr txBox="1"/>
          <p:nvPr/>
        </p:nvSpPr>
        <p:spPr>
          <a:xfrm>
            <a:off x="685800" y="2871215"/>
            <a:ext cx="2377440" cy="5486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600" b="1" dirty="0">
                <a:solidFill>
                  <a:srgbClr val="63A03A"/>
                </a:solidFill>
                <a:latin typeface="Calibri"/>
              </a:rPr>
              <a:t>Commission</a:t>
            </a:r>
          </a:p>
        </p:txBody>
      </p:sp>
      <p:sp>
        <p:nvSpPr>
          <p:cNvPr id="523887" name="t"/>
          <p:cNvSpPr txBox="1"/>
          <p:nvPr/>
        </p:nvSpPr>
        <p:spPr>
          <a:xfrm>
            <a:off x="3063240" y="2871215"/>
            <a:ext cx="8321040" cy="6400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600" dirty="0">
                <a:solidFill>
                  <a:srgbClr val="1D242B"/>
                </a:solidFill>
                <a:latin typeface="Calibri"/>
              </a:rPr>
              <a:t>10 % des plats en Essentiel, 8 % en Pro. La livraison est la part du livreur.</a:t>
            </a:r>
          </a:p>
        </p:txBody>
      </p:sp>
      <p:sp>
        <p:nvSpPr>
          <p:cNvPr id="719214" name="t"/>
          <p:cNvSpPr txBox="1"/>
          <p:nvPr/>
        </p:nvSpPr>
        <p:spPr>
          <a:xfrm>
            <a:off x="685800" y="3657600"/>
            <a:ext cx="2377440" cy="5486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600" b="1" dirty="0">
                <a:solidFill>
                  <a:srgbClr val="63A03A"/>
                </a:solidFill>
                <a:latin typeface="Calibri"/>
              </a:rPr>
              <a:t>Abonnement</a:t>
            </a:r>
          </a:p>
        </p:txBody>
      </p:sp>
      <p:sp>
        <p:nvSpPr>
          <p:cNvPr id="611159" name="t"/>
          <p:cNvSpPr txBox="1"/>
          <p:nvPr/>
        </p:nvSpPr>
        <p:spPr>
          <a:xfrm>
            <a:off x="3063240" y="3657600"/>
            <a:ext cx="8321040" cy="6400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600" dirty="0">
                <a:solidFill>
                  <a:srgbClr val="1D242B"/>
                </a:solidFill>
                <a:latin typeface="Calibri"/>
              </a:rPr>
              <a:t>Essentiel 15 000 FCFA / mois. Pro 25 000 FCFA / mois, badge et mise en avant.</a:t>
            </a:r>
          </a:p>
        </p:txBody>
      </p:sp>
      <p:sp>
        <p:nvSpPr>
          <p:cNvPr id="125343" name="t"/>
          <p:cNvSpPr txBox="1"/>
          <p:nvPr/>
        </p:nvSpPr>
        <p:spPr>
          <a:xfrm>
            <a:off x="685800" y="4443983"/>
            <a:ext cx="2377440" cy="5486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600" b="1" dirty="0">
                <a:solidFill>
                  <a:srgbClr val="63A03A"/>
                </a:solidFill>
                <a:latin typeface="Calibri"/>
              </a:rPr>
              <a:t>Confiance</a:t>
            </a:r>
          </a:p>
        </p:txBody>
      </p:sp>
      <p:sp>
        <p:nvSpPr>
          <p:cNvPr id="109501" name="t"/>
          <p:cNvSpPr txBox="1"/>
          <p:nvPr/>
        </p:nvSpPr>
        <p:spPr>
          <a:xfrm>
            <a:off x="3063240" y="4443983"/>
            <a:ext cx="8321040" cy="6400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600" dirty="0">
                <a:solidFill>
                  <a:srgbClr val="1D242B"/>
                </a:solidFill>
                <a:latin typeface="Calibri"/>
              </a:rPr>
              <a:t>Restaurant invisible tant qu'il n'est pas approuvé. Livreur créé par l'admin.</a:t>
            </a:r>
          </a:p>
        </p:txBody>
      </p:sp>
      <p:sp>
        <p:nvSpPr>
          <p:cNvPr id="133098" name="t"/>
          <p:cNvSpPr txBox="1"/>
          <p:nvPr/>
        </p:nvSpPr>
        <p:spPr>
          <a:xfrm>
            <a:off x="685800" y="5230368"/>
            <a:ext cx="2377440" cy="5486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600" b="1" dirty="0">
                <a:solidFill>
                  <a:srgbClr val="63A03A"/>
                </a:solidFill>
                <a:latin typeface="Calibri"/>
              </a:rPr>
              <a:t>Sara</a:t>
            </a:r>
          </a:p>
        </p:txBody>
      </p:sp>
      <p:sp>
        <p:nvSpPr>
          <p:cNvPr id="858141" name="t"/>
          <p:cNvSpPr txBox="1"/>
          <p:nvPr/>
        </p:nvSpPr>
        <p:spPr>
          <a:xfrm>
            <a:off x="3063240" y="5230368"/>
            <a:ext cx="8321040" cy="6400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600" dirty="0">
                <a:solidFill>
                  <a:srgbClr val="1D242B"/>
                </a:solidFill>
                <a:latin typeface="Calibri"/>
              </a:rPr>
              <a:t>Conseillère branchée sur le catalogue réel, le budget et le quartier.</a:t>
            </a:r>
          </a:p>
        </p:txBody>
      </p:sp>
      <p:sp>
        <p:nvSpPr>
          <p:cNvPr id="31794" name="t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200" dirty="0">
                <a:solidFill>
                  <a:srgbClr val="5C656D"/>
                </a:solidFill>
                <a:latin typeface="Calibri"/>
              </a:rPr>
              <a:t>SynoriaEats  ·  Groupe 4 — ESTLC, Université d'Ebolowa</a:t>
            </a:r>
          </a:p>
        </p:txBody>
      </p:sp>
      <p:sp>
        <p:nvSpPr>
          <p:cNvPr id="316066" name="t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/>
            <a:r>
              <a:rPr lang="fr-FR" sz="1200" dirty="0">
                <a:solidFill>
                  <a:srgbClr val="5C656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929" name="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3"/>
          </a:solidFill>
          <a:ln>
            <a:noFill/>
          </a:ln>
        </p:spPr>
        <p:txBody>
          <a:bodyPr/>
          <a:lstStyle/>
          <a:p/>
        </p:txBody>
      </p:sp>
      <p:sp>
        <p:nvSpPr>
          <p:cNvPr id="899186" name="s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CD530"/>
          </a:solidFill>
          <a:ln>
            <a:noFill/>
          </a:ln>
        </p:spPr>
        <p:txBody>
          <a:bodyPr/>
          <a:lstStyle/>
          <a:p/>
        </p:txBody>
      </p:sp>
      <p:sp>
        <p:nvSpPr>
          <p:cNvPr id="426143" name="t"/>
          <p:cNvSpPr txBox="1"/>
          <p:nvPr/>
        </p:nvSpPr>
        <p:spPr>
          <a:xfrm>
            <a:off x="438912" y="256032"/>
            <a:ext cx="11155680" cy="6400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3200" b="1" dirty="0">
                <a:solidFill>
                  <a:srgbClr val="1D242B"/>
                </a:solidFill>
                <a:latin typeface="Georgia"/>
              </a:rPr>
              <a:t>Si le client paie 5 800 FCFA</a:t>
            </a:r>
          </a:p>
        </p:txBody>
      </p:sp>
      <p:sp>
        <p:nvSpPr>
          <p:cNvPr id="181480" name="t"/>
          <p:cNvSpPr txBox="1"/>
          <p:nvPr/>
        </p:nvSpPr>
        <p:spPr>
          <a:xfrm>
            <a:off x="438912" y="1005840"/>
            <a:ext cx="10972800" cy="3657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500" dirty="0">
                <a:solidFill>
                  <a:srgbClr val="5C656D"/>
                </a:solidFill>
                <a:latin typeface="Calibri"/>
              </a:rPr>
              <a:t>Exemple. Plats 5 000 FCFA, livraison 800 FCFA. Formule Essentiel, commission 10 %.</a:t>
            </a:r>
          </a:p>
        </p:txBody>
      </p:sp>
      <p:sp>
        <p:nvSpPr>
          <p:cNvPr id="794177" name="s"/>
          <p:cNvSpPr/>
          <p:nvPr/>
        </p:nvSpPr>
        <p:spPr>
          <a:xfrm>
            <a:off x="411480" y="1554480"/>
            <a:ext cx="2743200" cy="2103120"/>
          </a:xfrm>
          <a:prstGeom prst="roundRect">
            <a:avLst/>
          </a:prstGeom>
          <a:solidFill>
            <a:srgbClr val="1D242B"/>
          </a:solidFill>
          <a:ln>
            <a:noFill/>
          </a:ln>
        </p:spPr>
        <p:txBody>
          <a:bodyPr/>
          <a:lstStyle/>
          <a:p/>
        </p:txBody>
      </p:sp>
      <p:sp>
        <p:nvSpPr>
          <p:cNvPr id="335939" name="t"/>
          <p:cNvSpPr txBox="1"/>
          <p:nvPr/>
        </p:nvSpPr>
        <p:spPr>
          <a:xfrm>
            <a:off x="502920" y="1737360"/>
            <a:ext cx="2560320" cy="7315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fr-FR" sz="3200" b="1" dirty="0">
                <a:solidFill>
                  <a:srgbClr val="FCD530"/>
                </a:solidFill>
                <a:latin typeface="Georgia"/>
              </a:rPr>
              <a:t>5 800</a:t>
            </a:r>
          </a:p>
        </p:txBody>
      </p:sp>
      <p:sp>
        <p:nvSpPr>
          <p:cNvPr id="618039" name="t"/>
          <p:cNvSpPr txBox="1"/>
          <p:nvPr/>
        </p:nvSpPr>
        <p:spPr>
          <a:xfrm>
            <a:off x="502920" y="2560320"/>
            <a:ext cx="2560320" cy="7315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fr-FR" sz="1500" dirty="0">
                <a:solidFill>
                  <a:srgbClr val="FFFDF3"/>
                </a:solidFill>
                <a:latin typeface="Calibri"/>
              </a:rPr>
              <a:t>encaissés chez NotchPay</a:t>
            </a:r>
          </a:p>
        </p:txBody>
      </p:sp>
      <p:sp>
        <p:nvSpPr>
          <p:cNvPr id="417803" name="s"/>
          <p:cNvSpPr/>
          <p:nvPr/>
        </p:nvSpPr>
        <p:spPr>
          <a:xfrm>
            <a:off x="3337560" y="1554480"/>
            <a:ext cx="27432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99431" name="t"/>
          <p:cNvSpPr txBox="1"/>
          <p:nvPr/>
        </p:nvSpPr>
        <p:spPr>
          <a:xfrm>
            <a:off x="3429000" y="1737360"/>
            <a:ext cx="2560320" cy="7315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fr-FR" sz="3200" b="1" dirty="0">
                <a:solidFill>
                  <a:srgbClr val="63A03A"/>
                </a:solidFill>
                <a:latin typeface="Georgia"/>
              </a:rPr>
              <a:t>4 500</a:t>
            </a:r>
          </a:p>
        </p:txBody>
      </p:sp>
      <p:sp>
        <p:nvSpPr>
          <p:cNvPr id="253968" name="t"/>
          <p:cNvSpPr txBox="1"/>
          <p:nvPr/>
        </p:nvSpPr>
        <p:spPr>
          <a:xfrm>
            <a:off x="3429000" y="2560320"/>
            <a:ext cx="2560320" cy="7315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fr-FR" sz="1500" dirty="0">
                <a:solidFill>
                  <a:srgbClr val="1D242B"/>
                </a:solidFill>
                <a:latin typeface="Calibri"/>
              </a:rPr>
              <a:t>dus au restaurant</a:t>
            </a:r>
          </a:p>
        </p:txBody>
      </p:sp>
      <p:sp>
        <p:nvSpPr>
          <p:cNvPr id="652877" name="s"/>
          <p:cNvSpPr/>
          <p:nvPr/>
        </p:nvSpPr>
        <p:spPr>
          <a:xfrm>
            <a:off x="6263640" y="1554480"/>
            <a:ext cx="27432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80221" name="t"/>
          <p:cNvSpPr txBox="1"/>
          <p:nvPr/>
        </p:nvSpPr>
        <p:spPr>
          <a:xfrm>
            <a:off x="6355080" y="1737360"/>
            <a:ext cx="2560320" cy="7315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fr-FR" sz="3200" b="1" dirty="0">
                <a:solidFill>
                  <a:srgbClr val="63A03A"/>
                </a:solidFill>
                <a:latin typeface="Georgia"/>
              </a:rPr>
              <a:t>800</a:t>
            </a:r>
          </a:p>
        </p:txBody>
      </p:sp>
      <p:sp>
        <p:nvSpPr>
          <p:cNvPr id="729565" name="t"/>
          <p:cNvSpPr txBox="1"/>
          <p:nvPr/>
        </p:nvSpPr>
        <p:spPr>
          <a:xfrm>
            <a:off x="6355080" y="2560320"/>
            <a:ext cx="2560320" cy="7315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fr-FR" sz="1500" dirty="0">
                <a:solidFill>
                  <a:srgbClr val="1D242B"/>
                </a:solidFill>
                <a:latin typeface="Calibri"/>
              </a:rPr>
              <a:t>dus au livreur</a:t>
            </a:r>
          </a:p>
        </p:txBody>
      </p:sp>
      <p:sp>
        <p:nvSpPr>
          <p:cNvPr id="823472" name="s"/>
          <p:cNvSpPr/>
          <p:nvPr/>
        </p:nvSpPr>
        <p:spPr>
          <a:xfrm>
            <a:off x="9189720" y="1554480"/>
            <a:ext cx="27432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53181" name="t"/>
          <p:cNvSpPr txBox="1"/>
          <p:nvPr/>
        </p:nvSpPr>
        <p:spPr>
          <a:xfrm>
            <a:off x="9281160" y="1737360"/>
            <a:ext cx="2560320" cy="7315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fr-FR" sz="3200" b="1" dirty="0">
                <a:solidFill>
                  <a:srgbClr val="63A03A"/>
                </a:solidFill>
                <a:latin typeface="Georgia"/>
              </a:rPr>
              <a:t>500</a:t>
            </a:r>
          </a:p>
        </p:txBody>
      </p:sp>
      <p:sp>
        <p:nvSpPr>
          <p:cNvPr id="13289" name="t"/>
          <p:cNvSpPr txBox="1"/>
          <p:nvPr/>
        </p:nvSpPr>
        <p:spPr>
          <a:xfrm>
            <a:off x="9281160" y="2560320"/>
            <a:ext cx="2560320" cy="7315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fr-FR" sz="1500" dirty="0">
                <a:solidFill>
                  <a:srgbClr val="1D242B"/>
                </a:solidFill>
                <a:latin typeface="Calibri"/>
              </a:rPr>
              <a:t>commission SynoriaEats</a:t>
            </a:r>
          </a:p>
        </p:txBody>
      </p:sp>
      <p:sp>
        <p:nvSpPr>
          <p:cNvPr id="13780" name="t"/>
          <p:cNvSpPr txBox="1"/>
          <p:nvPr/>
        </p:nvSpPr>
        <p:spPr>
          <a:xfrm>
            <a:off x="438912" y="3931920"/>
            <a:ext cx="11247120" cy="20116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600" dirty="0">
                <a:solidFill>
                  <a:srgbClr val="1D242B"/>
                </a:solidFill>
                <a:latin typeface="Calibri"/>
              </a:rPr>
              <a:t>NotchPay prélève sa commission d'agrégateur sur ce solde. L'application calcule les trois parts. Le virement vers le restaurant et le livreur part encore à la main, depuis le compte marchand. En Pro, la commission sur 5 000 FCFA de plats passe à 400 FCFA.</a:t>
            </a:r>
          </a:p>
        </p:txBody>
      </p:sp>
      <p:sp>
        <p:nvSpPr>
          <p:cNvPr id="31794" name="t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200" dirty="0">
                <a:solidFill>
                  <a:srgbClr val="5C656D"/>
                </a:solidFill>
                <a:latin typeface="Calibri"/>
              </a:rPr>
              <a:t>SynoriaEats  ·  Groupe 4 — ESTLC, Université d'Ebolowa</a:t>
            </a:r>
          </a:p>
        </p:txBody>
      </p:sp>
      <p:sp>
        <p:nvSpPr>
          <p:cNvPr id="532908" name="t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/>
            <a:r>
              <a:rPr lang="fr-FR" sz="1200" dirty="0">
                <a:solidFill>
                  <a:srgbClr val="5C656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929" name="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3"/>
          </a:solidFill>
          <a:ln>
            <a:noFill/>
          </a:ln>
        </p:spPr>
        <p:txBody>
          <a:bodyPr/>
          <a:lstStyle/>
          <a:p/>
        </p:txBody>
      </p:sp>
      <p:sp>
        <p:nvSpPr>
          <p:cNvPr id="899186" name="s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CD5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462" name="t"/>
          <p:cNvSpPr txBox="1"/>
          <p:nvPr/>
        </p:nvSpPr>
        <p:spPr>
          <a:xfrm>
            <a:off x="438912" y="256032"/>
            <a:ext cx="11155680" cy="6400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3200" b="1" dirty="0">
                <a:solidFill>
                  <a:srgbClr val="1D242B"/>
                </a:solidFill>
                <a:latin typeface="Georgia"/>
              </a:rPr>
              <a:t>Deux revenus</a:t>
            </a:r>
          </a:p>
        </p:txBody>
      </p:sp>
      <p:sp>
        <p:nvSpPr>
          <p:cNvPr id="192625" name="s"/>
          <p:cNvSpPr/>
          <p:nvPr/>
        </p:nvSpPr>
        <p:spPr>
          <a:xfrm>
            <a:off x="411480" y="1143000"/>
            <a:ext cx="5623560" cy="4983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83403" name="s"/>
          <p:cNvSpPr/>
          <p:nvPr/>
        </p:nvSpPr>
        <p:spPr>
          <a:xfrm>
            <a:off x="6172200" y="1143000"/>
            <a:ext cx="5623560" cy="4983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02475" name="s"/>
          <p:cNvSpPr/>
          <p:nvPr/>
        </p:nvSpPr>
        <p:spPr>
          <a:xfrm>
            <a:off x="411480" y="1143000"/>
            <a:ext cx="5623560" cy="91440"/>
          </a:xfrm>
          <a:prstGeom prst="rect">
            <a:avLst/>
          </a:prstGeom>
          <a:solidFill>
            <a:srgbClr val="63A03A"/>
          </a:solidFill>
          <a:ln>
            <a:noFill/>
          </a:ln>
        </p:spPr>
        <p:txBody>
          <a:bodyPr/>
          <a:lstStyle/>
          <a:p/>
        </p:txBody>
      </p:sp>
      <p:sp>
        <p:nvSpPr>
          <p:cNvPr id="49597" name="s"/>
          <p:cNvSpPr/>
          <p:nvPr/>
        </p:nvSpPr>
        <p:spPr>
          <a:xfrm>
            <a:off x="6172200" y="1143000"/>
            <a:ext cx="5623560" cy="91440"/>
          </a:xfrm>
          <a:prstGeom prst="rect">
            <a:avLst/>
          </a:prstGeom>
          <a:solidFill>
            <a:srgbClr val="FCD5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38989" name="t"/>
          <p:cNvSpPr txBox="1"/>
          <p:nvPr/>
        </p:nvSpPr>
        <p:spPr>
          <a:xfrm>
            <a:off x="685800" y="1417320"/>
            <a:ext cx="5120640" cy="4572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2400" b="1" dirty="0">
                <a:solidFill>
                  <a:srgbClr val="1D242B"/>
                </a:solidFill>
                <a:latin typeface="Georgia"/>
              </a:rPr>
              <a:t>La commission</a:t>
            </a:r>
          </a:p>
        </p:txBody>
      </p:sp>
      <p:sp>
        <p:nvSpPr>
          <p:cNvPr id="558298" name="t"/>
          <p:cNvSpPr txBox="1"/>
          <p:nvPr/>
        </p:nvSpPr>
        <p:spPr>
          <a:xfrm>
            <a:off x="685800" y="2011680"/>
            <a:ext cx="5120640" cy="3749039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600" dirty="0">
                <a:solidFill>
                  <a:srgbClr val="1D242B"/>
                </a:solidFill>
                <a:latin typeface="Calibri"/>
              </a:rPr>
              <a:t>C'est le moteur. Elle suit les plats vendus.</a:t>
            </a:r>
          </a:p>
          <a:p>
            <a:pPr algn="l"/>
            <a:r>
              <a:rPr lang="fr-FR" sz="1000" dirty="0">
                <a:solidFill>
                  <a:srgbClr val="1D242B"/>
                </a:solidFill>
                <a:latin typeface="Calibri"/>
              </a:rPr>
              <a:t/>
            </a:r>
          </a:p>
          <a:p>
            <a:pPr algn="l"/>
            <a:r>
              <a:rPr lang="fr-FR" sz="1600" b="1" dirty="0">
                <a:solidFill>
                  <a:srgbClr val="1D242B"/>
                </a:solidFill>
                <a:latin typeface="Calibri"/>
              </a:rPr>
              <a:t>10 % en Essentiel.  8 % en Pro.</a:t>
            </a:r>
          </a:p>
          <a:p>
            <a:pPr algn="l"/>
            <a:r>
              <a:rPr lang="fr-FR" sz="1000" dirty="0">
                <a:solidFill>
                  <a:srgbClr val="1D242B"/>
                </a:solidFill>
                <a:latin typeface="Calibri"/>
              </a:rPr>
              <a:t/>
            </a:r>
          </a:p>
          <a:p>
            <a:pPr algn="l"/>
            <a:r>
              <a:rPr lang="fr-FR" sz="1600" dirty="0">
                <a:solidFill>
                  <a:srgbClr val="1D242B"/>
                </a:solidFill>
                <a:latin typeface="Calibri"/>
              </a:rPr>
              <a:t>Exemple, pas un chiffre réel :</a:t>
            </a:r>
          </a:p>
          <a:p>
            <a:pPr algn="l"/>
            <a:r>
              <a:rPr lang="fr-FR" sz="1600" dirty="0">
                <a:solidFill>
                  <a:srgbClr val="1D242B"/>
                </a:solidFill>
                <a:latin typeface="Calibri"/>
              </a:rPr>
              <a:t>50 restaurants × 500 000 FCFA × 10 %</a:t>
            </a:r>
          </a:p>
          <a:p>
            <a:pPr algn="l"/>
            <a:r>
              <a:rPr lang="fr-FR" sz="1600" b="1" dirty="0">
                <a:solidFill>
                  <a:srgbClr val="63A03A"/>
                </a:solidFill>
                <a:latin typeface="Calibri"/>
              </a:rPr>
              <a:t>= 2 500 000 FCFA par mois.</a:t>
            </a:r>
          </a:p>
          <a:p>
            <a:pPr algn="l"/>
            <a:r>
              <a:rPr lang="fr-FR" sz="1000" dirty="0">
                <a:solidFill>
                  <a:srgbClr val="1D242B"/>
                </a:solidFill>
                <a:latin typeface="Calibri"/>
              </a:rPr>
              <a:t/>
            </a:r>
          </a:p>
          <a:p>
            <a:pPr algn="l"/>
            <a:r>
              <a:rPr lang="fr-FR" sz="1600" dirty="0">
                <a:solidFill>
                  <a:srgbClr val="5C656D"/>
                </a:solidFill>
                <a:latin typeface="Calibri"/>
              </a:rPr>
              <a:t>Les frais de livraison paient le livreur.</a:t>
            </a:r>
          </a:p>
        </p:txBody>
      </p:sp>
      <p:sp>
        <p:nvSpPr>
          <p:cNvPr id="760968" name="t"/>
          <p:cNvSpPr txBox="1"/>
          <p:nvPr/>
        </p:nvSpPr>
        <p:spPr>
          <a:xfrm>
            <a:off x="6446520" y="1417320"/>
            <a:ext cx="5120640" cy="4572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2400" b="1" dirty="0">
                <a:solidFill>
                  <a:srgbClr val="1D242B"/>
                </a:solidFill>
                <a:latin typeface="Georgia"/>
              </a:rPr>
              <a:t>L'abonnement</a:t>
            </a:r>
          </a:p>
        </p:txBody>
      </p:sp>
      <p:sp>
        <p:nvSpPr>
          <p:cNvPr id="401566" name="t"/>
          <p:cNvSpPr txBox="1"/>
          <p:nvPr/>
        </p:nvSpPr>
        <p:spPr>
          <a:xfrm>
            <a:off x="6446520" y="2011680"/>
            <a:ext cx="5120640" cy="3749039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600" b="1" dirty="0">
                <a:solidFill>
                  <a:srgbClr val="1D242B"/>
                </a:solidFill>
                <a:latin typeface="Calibri"/>
              </a:rPr>
              <a:t>Essentiel — 15 000 FCFA / mois</a:t>
            </a:r>
          </a:p>
          <a:p>
            <a:pPr algn="l"/>
            <a:r>
              <a:rPr lang="fr-FR" sz="1600" dirty="0">
                <a:solidFill>
                  <a:srgbClr val="1D242B"/>
                </a:solidFill>
                <a:latin typeface="Calibri"/>
              </a:rPr>
              <a:t>Catalogue, commission 10 %.</a:t>
            </a:r>
          </a:p>
          <a:p>
            <a:pPr algn="l"/>
            <a:r>
              <a:rPr lang="fr-FR" sz="800" dirty="0">
                <a:solidFill>
                  <a:srgbClr val="1D242B"/>
                </a:solidFill>
                <a:latin typeface="Calibri"/>
              </a:rPr>
              <a:t/>
            </a:r>
          </a:p>
          <a:p>
            <a:pPr algn="l"/>
            <a:r>
              <a:rPr lang="fr-FR" sz="1600" b="1" dirty="0">
                <a:solidFill>
                  <a:srgbClr val="1D242B"/>
                </a:solidFill>
                <a:latin typeface="Calibri"/>
              </a:rPr>
              <a:t>Pro — 25 000 FCFA / mois</a:t>
            </a:r>
          </a:p>
          <a:p>
            <a:pPr algn="l"/>
            <a:r>
              <a:rPr lang="fr-FR" sz="1600" dirty="0">
                <a:solidFill>
                  <a:srgbClr val="1D242B"/>
                </a:solidFill>
                <a:latin typeface="Calibri"/>
              </a:rPr>
              <a:t>Badge, mise en avant, commission 8 %.</a:t>
            </a:r>
          </a:p>
          <a:p>
            <a:pPr algn="l"/>
            <a:r>
              <a:rPr lang="fr-FR" sz="800" dirty="0">
                <a:solidFill>
                  <a:srgbClr val="1D242B"/>
                </a:solidFill>
                <a:latin typeface="Calibri"/>
              </a:rPr>
              <a:t/>
            </a:r>
          </a:p>
          <a:p>
            <a:pPr algn="l"/>
            <a:r>
              <a:rPr lang="fr-FR" sz="1600" dirty="0">
                <a:solidFill>
                  <a:srgbClr val="1D242B"/>
                </a:solidFill>
                <a:latin typeface="Calibri"/>
              </a:rPr>
              <a:t>Essai 30 jours.</a:t>
            </a:r>
          </a:p>
          <a:p>
            <a:pPr algn="l"/>
            <a:r>
              <a:rPr lang="fr-FR" sz="800" dirty="0">
                <a:solidFill>
                  <a:srgbClr val="1D242B"/>
                </a:solidFill>
                <a:latin typeface="Calibri"/>
              </a:rPr>
              <a:t/>
            </a:r>
          </a:p>
          <a:p>
            <a:pPr algn="l"/>
            <a:r>
              <a:rPr lang="fr-FR" sz="1600" dirty="0">
                <a:solidFill>
                  <a:srgbClr val="1D242B"/>
                </a:solidFill>
                <a:latin typeface="Calibri"/>
              </a:rPr>
              <a:t>50 Essentiel = 750 000 FCFA / mois.</a:t>
            </a:r>
          </a:p>
          <a:p>
            <a:pPr algn="l"/>
            <a:r>
              <a:rPr lang="fr-FR" sz="1600" dirty="0">
                <a:solidFill>
                  <a:srgbClr val="5C656D"/>
                </a:solidFill>
                <a:latin typeface="Calibri"/>
              </a:rPr>
              <a:t>Second revenu.</a:t>
            </a:r>
          </a:p>
        </p:txBody>
      </p:sp>
      <p:sp>
        <p:nvSpPr>
          <p:cNvPr id="31794" name="t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200" dirty="0">
                <a:solidFill>
                  <a:srgbClr val="5C656D"/>
                </a:solidFill>
                <a:latin typeface="Calibri"/>
              </a:rPr>
              <a:t>SynoriaEats  ·  Groupe 4 — ESTLC, Université d'Ebolowa</a:t>
            </a:r>
          </a:p>
        </p:txBody>
      </p:sp>
      <p:sp>
        <p:nvSpPr>
          <p:cNvPr id="37864" name="t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/>
            <a:r>
              <a:rPr lang="fr-FR" sz="1200" dirty="0">
                <a:solidFill>
                  <a:srgbClr val="5C656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929" name="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3"/>
          </a:solidFill>
          <a:ln>
            <a:noFill/>
          </a:ln>
        </p:spPr>
        <p:txBody>
          <a:bodyPr/>
          <a:lstStyle/>
          <a:p/>
        </p:txBody>
      </p:sp>
      <p:sp>
        <p:nvSpPr>
          <p:cNvPr id="899186" name="s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CD530"/>
          </a:solidFill>
          <a:ln>
            <a:noFill/>
          </a:ln>
        </p:spPr>
        <p:txBody>
          <a:bodyPr/>
          <a:lstStyle/>
          <a:p/>
        </p:txBody>
      </p:sp>
      <p:sp>
        <p:nvSpPr>
          <p:cNvPr id="844047" name="t"/>
          <p:cNvSpPr txBox="1"/>
          <p:nvPr/>
        </p:nvSpPr>
        <p:spPr>
          <a:xfrm>
            <a:off x="438912" y="256032"/>
            <a:ext cx="11155680" cy="6400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3200" b="1" dirty="0">
                <a:solidFill>
                  <a:srgbClr val="1D242B"/>
                </a:solidFill>
                <a:latin typeface="Georgia"/>
              </a:rPr>
              <a:t>Face à l'existant</a:t>
            </a:r>
          </a:p>
        </p:txBody>
      </p:sp>
      <p:sp>
        <p:nvSpPr>
          <p:cNvPr id="602754" name="t"/>
          <p:cNvSpPr txBox="1"/>
          <p:nvPr/>
        </p:nvSpPr>
        <p:spPr>
          <a:xfrm>
            <a:off x="438912" y="1005840"/>
            <a:ext cx="11155680" cy="4114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600" dirty="0">
                <a:solidFill>
                  <a:srgbClr val="5C656D"/>
                </a:solidFill>
                <a:latin typeface="Calibri"/>
              </a:rPr>
              <a:t>Le concurrent principal reste WhatsApp. Les applis locales couvrent déjà le catalogue et le Mobile Money.</a:t>
            </a:r>
          </a:p>
        </p:txBody>
      </p:sp>
      <p:sp>
        <p:nvSpPr>
          <p:cNvPr id="305847" name="t"/>
          <p:cNvSpPr txBox="1"/>
          <p:nvPr/>
        </p:nvSpPr>
        <p:spPr>
          <a:xfrm>
            <a:off x="438912" y="1508760"/>
            <a:ext cx="5029200" cy="3657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800" b="1" dirty="0">
                <a:solidFill>
                  <a:srgbClr val="1D242B"/>
                </a:solidFill>
                <a:latin typeface="Georgia"/>
              </a:rPr>
              <a:t>Le socle commun</a:t>
            </a:r>
          </a:p>
        </p:txBody>
      </p:sp>
      <p:sp>
        <p:nvSpPr>
          <p:cNvPr id="528536" name="s"/>
          <p:cNvSpPr/>
          <p:nvPr/>
        </p:nvSpPr>
        <p:spPr>
          <a:xfrm>
            <a:off x="438912" y="2011680"/>
            <a:ext cx="52120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47766" name="t"/>
          <p:cNvSpPr txBox="1"/>
          <p:nvPr/>
        </p:nvSpPr>
        <p:spPr>
          <a:xfrm>
            <a:off x="685800" y="2359152"/>
            <a:ext cx="4754880" cy="4572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600" dirty="0">
                <a:solidFill>
                  <a:srgbClr val="1D242B"/>
                </a:solidFill>
                <a:latin typeface="Calibri"/>
              </a:rPr>
              <a:t>Catalogue et suivi</a:t>
            </a:r>
          </a:p>
        </p:txBody>
      </p:sp>
      <p:sp>
        <p:nvSpPr>
          <p:cNvPr id="75680" name="s"/>
          <p:cNvSpPr/>
          <p:nvPr/>
        </p:nvSpPr>
        <p:spPr>
          <a:xfrm>
            <a:off x="438912" y="3337560"/>
            <a:ext cx="52120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91311" name="t"/>
          <p:cNvSpPr txBox="1"/>
          <p:nvPr/>
        </p:nvSpPr>
        <p:spPr>
          <a:xfrm>
            <a:off x="685800" y="3685032"/>
            <a:ext cx="4754880" cy="4572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600" dirty="0">
                <a:solidFill>
                  <a:srgbClr val="1D242B"/>
                </a:solidFill>
                <a:latin typeface="Calibri"/>
              </a:rPr>
              <a:t>Orange Money et MTN MoMo</a:t>
            </a:r>
          </a:p>
        </p:txBody>
      </p:sp>
      <p:sp>
        <p:nvSpPr>
          <p:cNvPr id="812645" name="s"/>
          <p:cNvSpPr/>
          <p:nvPr/>
        </p:nvSpPr>
        <p:spPr>
          <a:xfrm>
            <a:off x="438912" y="4663440"/>
            <a:ext cx="52120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87692" name="t"/>
          <p:cNvSpPr txBox="1"/>
          <p:nvPr/>
        </p:nvSpPr>
        <p:spPr>
          <a:xfrm>
            <a:off x="685800" y="5010912"/>
            <a:ext cx="4754880" cy="4572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600" dirty="0">
                <a:solidFill>
                  <a:srgbClr val="1D242B"/>
                </a:solidFill>
                <a:latin typeface="Calibri"/>
              </a:rPr>
              <a:t>Quartiers de Yaoundé et Douala</a:t>
            </a:r>
          </a:p>
        </p:txBody>
      </p:sp>
      <p:sp>
        <p:nvSpPr>
          <p:cNvPr id="71438" name="t"/>
          <p:cNvSpPr txBox="1"/>
          <p:nvPr/>
        </p:nvSpPr>
        <p:spPr>
          <a:xfrm>
            <a:off x="6035040" y="1508760"/>
            <a:ext cx="5669280" cy="3657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800" b="1" dirty="0">
                <a:solidFill>
                  <a:srgbClr val="63A03A"/>
                </a:solidFill>
                <a:latin typeface="Georgia"/>
              </a:rPr>
              <a:t>Ce que SynoriaEats ajoute</a:t>
            </a:r>
          </a:p>
        </p:txBody>
      </p:sp>
      <p:sp>
        <p:nvSpPr>
          <p:cNvPr id="280854" name="s"/>
          <p:cNvSpPr/>
          <p:nvPr/>
        </p:nvSpPr>
        <p:spPr>
          <a:xfrm>
            <a:off x="6035040" y="1965960"/>
            <a:ext cx="566928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28644" name="t"/>
          <p:cNvSpPr txBox="1"/>
          <p:nvPr/>
        </p:nvSpPr>
        <p:spPr>
          <a:xfrm>
            <a:off x="6263640" y="2148840"/>
            <a:ext cx="5303520" cy="3657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500" dirty="0">
                <a:solidFill>
                  <a:srgbClr val="1D242B"/>
                </a:solidFill>
                <a:latin typeface="Calibri"/>
              </a:rPr>
              <a:t>Sara branchée sur le vrai menu</a:t>
            </a:r>
          </a:p>
        </p:txBody>
      </p:sp>
      <p:sp>
        <p:nvSpPr>
          <p:cNvPr id="79868" name="s"/>
          <p:cNvSpPr/>
          <p:nvPr/>
        </p:nvSpPr>
        <p:spPr>
          <a:xfrm>
            <a:off x="6035040" y="2788920"/>
            <a:ext cx="566928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5673" name="t"/>
          <p:cNvSpPr txBox="1"/>
          <p:nvPr/>
        </p:nvSpPr>
        <p:spPr>
          <a:xfrm>
            <a:off x="6263640" y="2971800"/>
            <a:ext cx="5303520" cy="3657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500" dirty="0">
                <a:solidFill>
                  <a:srgbClr val="1D242B"/>
                </a:solidFill>
                <a:latin typeface="Calibri"/>
              </a:rPr>
              <a:t>Frais selon la distance et l'heure</a:t>
            </a:r>
          </a:p>
        </p:txBody>
      </p:sp>
      <p:sp>
        <p:nvSpPr>
          <p:cNvPr id="860352" name="s"/>
          <p:cNvSpPr/>
          <p:nvPr/>
        </p:nvSpPr>
        <p:spPr>
          <a:xfrm>
            <a:off x="6035040" y="3611880"/>
            <a:ext cx="566928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42823" name="t"/>
          <p:cNvSpPr txBox="1"/>
          <p:nvPr/>
        </p:nvSpPr>
        <p:spPr>
          <a:xfrm>
            <a:off x="6263640" y="3794760"/>
            <a:ext cx="5303520" cy="3657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500" dirty="0">
                <a:solidFill>
                  <a:srgbClr val="1D242B"/>
                </a:solidFill>
                <a:latin typeface="Calibri"/>
              </a:rPr>
              <a:t>Restaurant approuvé avant d'être visible</a:t>
            </a:r>
          </a:p>
        </p:txBody>
      </p:sp>
      <p:sp>
        <p:nvSpPr>
          <p:cNvPr id="783228" name="s"/>
          <p:cNvSpPr/>
          <p:nvPr/>
        </p:nvSpPr>
        <p:spPr>
          <a:xfrm>
            <a:off x="6035040" y="4434840"/>
            <a:ext cx="566928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73698" name="t"/>
          <p:cNvSpPr txBox="1"/>
          <p:nvPr/>
        </p:nvSpPr>
        <p:spPr>
          <a:xfrm>
            <a:off x="6263640" y="4617720"/>
            <a:ext cx="5303520" cy="3657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500" dirty="0">
                <a:solidFill>
                  <a:srgbClr val="1D242B"/>
                </a:solidFill>
                <a:latin typeface="Calibri"/>
              </a:rPr>
              <a:t>Site web, sans installer une appli</a:t>
            </a:r>
          </a:p>
        </p:txBody>
      </p:sp>
      <p:sp>
        <p:nvSpPr>
          <p:cNvPr id="779503" name="s"/>
          <p:cNvSpPr/>
          <p:nvPr/>
        </p:nvSpPr>
        <p:spPr>
          <a:xfrm>
            <a:off x="6035040" y="5257800"/>
            <a:ext cx="566928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05566" name="t"/>
          <p:cNvSpPr txBox="1"/>
          <p:nvPr/>
        </p:nvSpPr>
        <p:spPr>
          <a:xfrm>
            <a:off x="6263640" y="5440680"/>
            <a:ext cx="5303520" cy="3657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500" dirty="0">
                <a:solidFill>
                  <a:srgbClr val="1D242B"/>
                </a:solidFill>
                <a:latin typeface="Calibri"/>
              </a:rPr>
              <a:t>Commission affichée, livraison au livreur</a:t>
            </a:r>
          </a:p>
        </p:txBody>
      </p:sp>
      <p:sp>
        <p:nvSpPr>
          <p:cNvPr id="31794" name="t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200" dirty="0">
                <a:solidFill>
                  <a:srgbClr val="5C656D"/>
                </a:solidFill>
                <a:latin typeface="Calibri"/>
              </a:rPr>
              <a:t>SynoriaEats  ·  Groupe 4 — ESTLC, Université d'Ebolowa</a:t>
            </a:r>
          </a:p>
        </p:txBody>
      </p:sp>
      <p:sp>
        <p:nvSpPr>
          <p:cNvPr id="145320" name="t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/>
            <a:r>
              <a:rPr lang="fr-FR" sz="1200" dirty="0">
                <a:solidFill>
                  <a:srgbClr val="5C656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929" name="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3"/>
          </a:solidFill>
          <a:ln>
            <a:noFill/>
          </a:ln>
        </p:spPr>
        <p:txBody>
          <a:bodyPr/>
          <a:lstStyle/>
          <a:p/>
        </p:txBody>
      </p:sp>
      <p:sp>
        <p:nvSpPr>
          <p:cNvPr id="899186" name="s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CD530"/>
          </a:solidFill>
          <a:ln>
            <a:noFill/>
          </a:ln>
        </p:spPr>
        <p:txBody>
          <a:bodyPr/>
          <a:lstStyle/>
          <a:p/>
        </p:txBody>
      </p:sp>
      <p:sp>
        <p:nvSpPr>
          <p:cNvPr id="588646" name="t"/>
          <p:cNvSpPr txBox="1"/>
          <p:nvPr/>
        </p:nvSpPr>
        <p:spPr>
          <a:xfrm>
            <a:off x="438912" y="256032"/>
            <a:ext cx="11155680" cy="6400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3200" b="1" dirty="0">
                <a:solidFill>
                  <a:srgbClr val="1D242B"/>
                </a:solidFill>
                <a:latin typeface="Georgia"/>
              </a:rPr>
              <a:t>En ligne, et ensuite</a:t>
            </a:r>
          </a:p>
        </p:txBody>
      </p:sp>
      <p:sp>
        <p:nvSpPr>
          <p:cNvPr id="432198" name="s"/>
          <p:cNvSpPr/>
          <p:nvPr/>
        </p:nvSpPr>
        <p:spPr>
          <a:xfrm>
            <a:off x="411480" y="1234440"/>
            <a:ext cx="562356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22976" name="s"/>
          <p:cNvSpPr/>
          <p:nvPr/>
        </p:nvSpPr>
        <p:spPr>
          <a:xfrm>
            <a:off x="6172200" y="1234440"/>
            <a:ext cx="562356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65215" name="t"/>
          <p:cNvSpPr txBox="1"/>
          <p:nvPr/>
        </p:nvSpPr>
        <p:spPr>
          <a:xfrm>
            <a:off x="685800" y="1463040"/>
            <a:ext cx="5120640" cy="4572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2200" b="1" dirty="0">
                <a:solidFill>
                  <a:srgbClr val="63A03A"/>
                </a:solidFill>
                <a:latin typeface="Georgia"/>
              </a:rPr>
              <a:t>On peut le montrer</a:t>
            </a:r>
          </a:p>
        </p:txBody>
      </p:sp>
      <p:sp>
        <p:nvSpPr>
          <p:cNvPr id="669677" name="t"/>
          <p:cNvSpPr txBox="1"/>
          <p:nvPr/>
        </p:nvSpPr>
        <p:spPr>
          <a:xfrm>
            <a:off x="685800" y="2103120"/>
            <a:ext cx="5120640" cy="34747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800" dirty="0">
                <a:solidFill>
                  <a:srgbClr val="1D242B"/>
                </a:solidFill>
                <a:latin typeface="Calibri"/>
              </a:rPr>
              <a:t>Catalogue et menus</a:t>
            </a:r>
          </a:p>
          <a:p>
            <a:pPr algn="l"/>
            <a:r>
              <a:rPr lang="fr-FR" sz="1800" dirty="0">
                <a:solidFill>
                  <a:srgbClr val="1D242B"/>
                </a:solidFill>
                <a:latin typeface="Calibri"/>
              </a:rPr>
              <a:t>Panier et commande</a:t>
            </a:r>
          </a:p>
          <a:p>
            <a:pPr algn="l"/>
            <a:r>
              <a:rPr lang="fr-FR" sz="1800" dirty="0">
                <a:solidFill>
                  <a:srgbClr val="1D242B"/>
                </a:solidFill>
                <a:latin typeface="Calibri"/>
              </a:rPr>
              <a:t>Page NotchPay Orange / MTN</a:t>
            </a:r>
          </a:p>
          <a:p>
            <a:pPr algn="l"/>
            <a:r>
              <a:rPr lang="fr-FR" sz="1800" dirty="0">
                <a:solidFill>
                  <a:srgbClr val="1D242B"/>
                </a:solidFill>
                <a:latin typeface="Calibri"/>
              </a:rPr>
              <a:t>Frais de livraison calculés</a:t>
            </a:r>
          </a:p>
          <a:p>
            <a:pPr algn="l"/>
            <a:r>
              <a:rPr lang="fr-FR" sz="1800" dirty="0">
                <a:solidFill>
                  <a:srgbClr val="1D242B"/>
                </a:solidFill>
                <a:latin typeface="Calibri"/>
              </a:rPr>
              <a:t>Abonnements Essentiel et Pro</a:t>
            </a:r>
          </a:p>
          <a:p>
            <a:pPr algn="l"/>
            <a:r>
              <a:rPr lang="fr-FR" sz="1800" dirty="0">
                <a:solidFill>
                  <a:srgbClr val="1D242B"/>
                </a:solidFill>
                <a:latin typeface="Calibri"/>
              </a:rPr>
              <a:t>Sara</a:t>
            </a:r>
          </a:p>
          <a:p>
            <a:pPr algn="l"/>
            <a:r>
              <a:rPr lang="fr-FR" sz="1800" dirty="0">
                <a:solidFill>
                  <a:srgbClr val="1D242B"/>
                </a:solidFill>
                <a:latin typeface="Calibri"/>
              </a:rPr>
              <a:t>Suivi de commande</a:t>
            </a:r>
          </a:p>
        </p:txBody>
      </p:sp>
      <p:sp>
        <p:nvSpPr>
          <p:cNvPr id="578365" name="t"/>
          <p:cNvSpPr txBox="1"/>
          <p:nvPr/>
        </p:nvSpPr>
        <p:spPr>
          <a:xfrm>
            <a:off x="6446520" y="1463040"/>
            <a:ext cx="5120640" cy="4572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2200" b="1" dirty="0">
                <a:solidFill>
                  <a:srgbClr val="1D242B"/>
                </a:solidFill>
                <a:latin typeface="Georgia"/>
              </a:rPr>
              <a:t>Prochaine brique</a:t>
            </a:r>
          </a:p>
        </p:txBody>
      </p:sp>
      <p:sp>
        <p:nvSpPr>
          <p:cNvPr id="613502" name="t"/>
          <p:cNvSpPr txBox="1"/>
          <p:nvPr/>
        </p:nvSpPr>
        <p:spPr>
          <a:xfrm>
            <a:off x="6446520" y="2103120"/>
            <a:ext cx="5120640" cy="34747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800" dirty="0">
                <a:solidFill>
                  <a:srgbClr val="1D242B"/>
                </a:solidFill>
                <a:latin typeface="Calibri"/>
              </a:rPr>
              <a:t>Reversement automatique</a:t>
            </a:r>
          </a:p>
          <a:p>
            <a:pPr algn="l"/>
            <a:r>
              <a:rPr lang="fr-FR" sz="1800" dirty="0">
                <a:solidFill>
                  <a:srgbClr val="1D242B"/>
                </a:solidFill>
                <a:latin typeface="Calibri"/>
              </a:rPr>
              <a:t>au restaurant et au livreur</a:t>
            </a:r>
          </a:p>
          <a:p>
            <a:pPr algn="l"/>
            <a:r>
              <a:rPr lang="fr-FR" sz="1800" dirty="0">
                <a:solidFill>
                  <a:srgbClr val="1D242B"/>
                </a:solidFill>
                <a:latin typeface="Calibri"/>
              </a:rPr>
              <a:t/>
            </a:r>
          </a:p>
          <a:p>
            <a:pPr algn="l"/>
            <a:r>
              <a:rPr lang="fr-FR" sz="1800" dirty="0">
                <a:solidFill>
                  <a:srgbClr val="1D242B"/>
                </a:solidFill>
                <a:latin typeface="Calibri"/>
              </a:rPr>
              <a:t>Encaissement réel de l'abonnement</a:t>
            </a:r>
          </a:p>
          <a:p>
            <a:pPr algn="l"/>
            <a:r>
              <a:rPr lang="fr-FR" sz="1800" dirty="0">
                <a:solidFill>
                  <a:srgbClr val="1D242B"/>
                </a:solidFill>
                <a:latin typeface="Calibri"/>
              </a:rPr>
              <a:t>sur NotchPay</a:t>
            </a:r>
          </a:p>
          <a:p>
            <a:pPr algn="l"/>
            <a:r>
              <a:rPr lang="fr-FR" sz="1800" dirty="0">
                <a:solidFill>
                  <a:srgbClr val="1D242B"/>
                </a:solidFill>
                <a:latin typeface="Calibri"/>
              </a:rPr>
              <a:t/>
            </a:r>
          </a:p>
          <a:p>
            <a:pPr algn="l"/>
            <a:r>
              <a:rPr lang="fr-FR" sz="1800" dirty="0">
                <a:solidFill>
                  <a:srgbClr val="1D242B"/>
                </a:solidFill>
                <a:latin typeface="Calibri"/>
              </a:rPr>
              <a:t>Espèces à la livraison,</a:t>
            </a:r>
          </a:p>
          <a:p>
            <a:pPr algn="l"/>
            <a:r>
              <a:rPr lang="fr-FR" sz="1800" dirty="0">
                <a:solidFill>
                  <a:srgbClr val="1D242B"/>
                </a:solidFill>
                <a:latin typeface="Calibri"/>
              </a:rPr>
              <a:t>si le marché le demande</a:t>
            </a:r>
          </a:p>
        </p:txBody>
      </p:sp>
      <p:sp>
        <p:nvSpPr>
          <p:cNvPr id="31794" name="t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200" dirty="0">
                <a:solidFill>
                  <a:srgbClr val="5C656D"/>
                </a:solidFill>
                <a:latin typeface="Calibri"/>
              </a:rPr>
              <a:t>SynoriaEats  ·  Groupe 4 — ESTLC, Université d'Ebolowa</a:t>
            </a:r>
          </a:p>
        </p:txBody>
      </p:sp>
      <p:sp>
        <p:nvSpPr>
          <p:cNvPr id="45636" name="t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/>
            <a:r>
              <a:rPr lang="fr-FR" sz="1200" dirty="0">
                <a:solidFill>
                  <a:srgbClr val="5C656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70" name="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42B"/>
          </a:solidFill>
          <a:ln>
            <a:noFill/>
          </a:ln>
        </p:spPr>
        <p:txBody>
          <a:bodyPr/>
          <a:lstStyle/>
          <a:p/>
        </p:txBody>
      </p:sp>
      <p:sp>
        <p:nvSpPr>
          <p:cNvPr id="389247" name="s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CD530"/>
          </a:solidFill>
          <a:ln>
            <a:noFill/>
          </a:ln>
        </p:spPr>
        <p:txBody>
          <a:bodyPr/>
          <a:lstStyle/>
          <a:p/>
        </p:txBody>
      </p:sp>
      <p:sp>
        <p:nvSpPr>
          <p:cNvPr id="618423" name="t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400" b="1" dirty="0">
                <a:solidFill>
                  <a:srgbClr val="FCD530"/>
                </a:solidFill>
                <a:latin typeface="Calibri"/>
              </a:rPr>
              <a:t>DÉMONSTRATION</a:t>
            </a:r>
          </a:p>
        </p:txBody>
      </p:sp>
      <p:sp>
        <p:nvSpPr>
          <p:cNvPr id="670726" name="t"/>
          <p:cNvSpPr txBox="1"/>
          <p:nvPr/>
        </p:nvSpPr>
        <p:spPr>
          <a:xfrm>
            <a:off x="640080" y="1874519"/>
            <a:ext cx="10972800" cy="8229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4600" b="1" dirty="0">
                <a:solidFill>
                  <a:srgbClr val="FFFDF3"/>
                </a:solidFill>
                <a:latin typeface="Georgia"/>
              </a:rPr>
              <a:t>On commande.</a:t>
            </a:r>
          </a:p>
        </p:txBody>
      </p:sp>
      <p:sp>
        <p:nvSpPr>
          <p:cNvPr id="69070" name="t"/>
          <p:cNvSpPr txBox="1"/>
          <p:nvPr/>
        </p:nvSpPr>
        <p:spPr>
          <a:xfrm>
            <a:off x="640080" y="3017520"/>
            <a:ext cx="10972800" cy="6400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2800" b="1" dirty="0">
                <a:solidFill>
                  <a:srgbClr val="FCD530"/>
                </a:solidFill>
                <a:latin typeface="Georgia"/>
              </a:rPr>
              <a:t>synoriaeats.gsi2026.com</a:t>
            </a:r>
          </a:p>
        </p:txBody>
      </p:sp>
      <p:sp>
        <p:nvSpPr>
          <p:cNvPr id="747059" name="t"/>
          <p:cNvSpPr txBox="1"/>
          <p:nvPr/>
        </p:nvSpPr>
        <p:spPr>
          <a:xfrm>
            <a:off x="640080" y="4023360"/>
            <a:ext cx="10058400" cy="10972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2200" dirty="0">
                <a:solidFill>
                  <a:srgbClr val="FFFFFF"/>
                </a:solidFill>
                <a:latin typeface="Calibri"/>
              </a:rPr>
              <a:t>Un restaurant, Sara, un panier,</a:t>
            </a:r>
          </a:p>
          <a:p>
            <a:pPr algn="l"/>
            <a:r>
              <a:rPr lang="fr-FR" sz="2200" dirty="0">
                <a:solidFill>
                  <a:srgbClr val="FFFFFF"/>
                </a:solidFill>
                <a:latin typeface="Calibri"/>
              </a:rPr>
              <a:t>puis Essentiel et Pro.</a:t>
            </a:r>
          </a:p>
        </p:txBody>
      </p:sp>
      <p:sp>
        <p:nvSpPr>
          <p:cNvPr id="542422" name="t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fr-FR" sz="1400" b="1" dirty="0">
                <a:solidFill>
                  <a:srgbClr val="1D242B"/>
                </a:solidFill>
                <a:latin typeface="Calibri"/>
              </a:rPr>
              <a:t>Groupe 4  —  ESTLC, Université d'Ebolowa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oriaEats">
  <a:themeElements>
    <a:clrScheme name="SynoriaEats">
      <a:dk1>
        <a:srgbClr val="1D242B"/>
      </a:dk1>
      <a:lt1>
        <a:srgbClr val="FFFDF3"/>
      </a:lt1>
      <a:dk2>
        <a:srgbClr val="1D242B"/>
      </a:dk2>
      <a:lt2>
        <a:srgbClr val="FFFFFF"/>
      </a:lt2>
      <a:accent1>
        <a:srgbClr val="FCD530"/>
      </a:accent1>
      <a:accent2>
        <a:srgbClr val="63A03A"/>
      </a:accent2>
      <a:accent3>
        <a:srgbClr val="1D242B"/>
      </a:accent3>
      <a:accent4>
        <a:srgbClr val="FCD530"/>
      </a:accent4>
      <a:accent5>
        <a:srgbClr val="63A03A"/>
      </a:accent5>
      <a:accent6>
        <a:srgbClr val="5C656D"/>
      </a:accent6>
      <a:hlink>
        <a:srgbClr val="63A03A"/>
      </a:hlink>
      <a:folHlink>
        <a:srgbClr val="1D242B"/>
      </a:folHlink>
    </a:clrScheme>
    <a:fontScheme name="SynoriaEats">
      <a:majorFont>
        <a:latin typeface="Georgia"/>
      </a:majorFont>
      <a:minorFont>
        <a:latin typeface="Calibr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SynoriaEats</Application>
  <Slides>10</Slides>
</Properties>
</file>

<file path=docProps/core.xml><?xml version="1.0" encoding="utf-8"?>
<cp:coreProperties xmlns:cp="http://schemas.openxmlformats.org/package/2006/metadata/core-properties" xmlns:dc="http://purl.org/dc/elements/1.1/">
  <dc:title>SynoriaEats — pitch investisseurs</dc:title>
  <dc:creator>Groupe 4 ESTLC</dc:creator>
</cp:coreProperties>
</file>